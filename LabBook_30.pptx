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256" r:id="rId2"/>
    <p:sldId id="289" r:id="rId3"/>
    <p:sldId id="290" r:id="rId4"/>
    <p:sldId id="296" r:id="rId5"/>
    <p:sldId id="375" r:id="rId6"/>
    <p:sldId id="376" r:id="rId7"/>
    <p:sldId id="377" r:id="rId8"/>
    <p:sldId id="388" r:id="rId9"/>
    <p:sldId id="380" r:id="rId10"/>
    <p:sldId id="381" r:id="rId11"/>
    <p:sldId id="288" r:id="rId1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51" d="100"/>
          <a:sy n="51" d="100"/>
        </p:scale>
        <p:origin x="67" y="1094"/>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26/05/2026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26/05/2026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5"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5"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577605" y="106765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36935"/>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31837" y="1307638"/>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323439"/>
          </a:xfrm>
          <a:prstGeom prst="rect">
            <a:avLst/>
          </a:prstGeom>
          <a:solidFill>
            <a:schemeClr val="bg1">
              <a:lumMod val="95000"/>
            </a:schemeClr>
          </a:solidFill>
          <a:ln w="28575">
            <a:solidFill>
              <a:srgbClr val="E0700D"/>
            </a:solidFill>
          </a:ln>
        </p:spPr>
        <p:txBody>
          <a:bodyPr wrap="square" rtlCol="0">
            <a:spAutoFit/>
          </a:bodyPr>
          <a:lstStyle/>
          <a:p>
            <a:pPr algn="just"/>
            <a:r>
              <a:rPr lang="en-US" sz="1600" dirty="0">
                <a:latin typeface="Arial" panose="020B0604020202020204" pitchFamily="34" charset="0"/>
                <a:cs typeface="Arial" panose="020B0604020202020204" pitchFamily="34" charset="0"/>
              </a:rPr>
              <a:t>if dL = 0 we have perfect destructive interference at the  output, due to the couplers being both symmetrical and introducing both a pi/2 phase shift. The resulting </a:t>
            </a:r>
            <a:r>
              <a:rPr lang="en-US" sz="1600" dirty="0" err="1">
                <a:latin typeface="Arial" panose="020B0604020202020204" pitchFamily="34" charset="0"/>
                <a:cs typeface="Arial" panose="020B0604020202020204" pitchFamily="34" charset="0"/>
              </a:rPr>
              <a:t>overlapsing</a:t>
            </a:r>
            <a:r>
              <a:rPr lang="en-US" sz="1600" dirty="0">
                <a:latin typeface="Arial" panose="020B0604020202020204" pitchFamily="34" charset="0"/>
                <a:cs typeface="Arial" panose="020B0604020202020204" pitchFamily="34" charset="0"/>
              </a:rPr>
              <a:t> signals are identical and out of phase</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8" name="Immagine 7">
            <a:extLst>
              <a:ext uri="{FF2B5EF4-FFF2-40B4-BE49-F238E27FC236}">
                <a16:creationId xmlns:a16="http://schemas.microsoft.com/office/drawing/2014/main" id="{6C4745E3-83EB-F6BC-35AE-91569C6161DB}"/>
              </a:ext>
            </a:extLst>
          </p:cNvPr>
          <p:cNvPicPr>
            <a:picLocks noChangeAspect="1"/>
          </p:cNvPicPr>
          <p:nvPr/>
        </p:nvPicPr>
        <p:blipFill>
          <a:blip r:embed="rId5"/>
          <a:stretch>
            <a:fillRect/>
          </a:stretch>
        </p:blipFill>
        <p:spPr>
          <a:xfrm>
            <a:off x="519137" y="1108876"/>
            <a:ext cx="5690289" cy="3188333"/>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23" name="CasellaDiTesto 22">
            <a:extLst>
              <a:ext uri="{FF2B5EF4-FFF2-40B4-BE49-F238E27FC236}">
                <a16:creationId xmlns:a16="http://schemas.microsoft.com/office/drawing/2014/main" id="{576235AD-7E79-59C6-C06F-2046D6D36D13}"/>
              </a:ext>
            </a:extLst>
          </p:cNvPr>
          <p:cNvSpPr txBox="1"/>
          <p:nvPr/>
        </p:nvSpPr>
        <p:spPr>
          <a:xfrm>
            <a:off x="8077200" y="838201"/>
            <a:ext cx="3810000" cy="2308324"/>
          </a:xfrm>
          <a:prstGeom prst="rect">
            <a:avLst/>
          </a:prstGeom>
          <a:noFill/>
        </p:spPr>
        <p:txBody>
          <a:bodyPr wrap="square" rtlCol="0">
            <a:spAutoFit/>
          </a:bodyPr>
          <a:lstStyle/>
          <a:p>
            <a:r>
              <a:rPr lang="en-US" dirty="0"/>
              <a:t>Setting dL to 100 µm creates a path length difference that makes the phase shift depend on wavelength, so the output oscillates sinusoidally. H00 and H01 are always complementary. The FSR from the formula is about 5.72 nm and this matches what the plot shows.</a:t>
            </a:r>
            <a:endParaRPr lang="it-IT" dirty="0"/>
          </a:p>
        </p:txBody>
      </p:sp>
      <p:pic>
        <p:nvPicPr>
          <p:cNvPr id="12" name="Immagine 11">
            <a:extLst>
              <a:ext uri="{FF2B5EF4-FFF2-40B4-BE49-F238E27FC236}">
                <a16:creationId xmlns:a16="http://schemas.microsoft.com/office/drawing/2014/main" id="{93B470A0-0FB0-08D9-5008-E634D172CE80}"/>
              </a:ext>
            </a:extLst>
          </p:cNvPr>
          <p:cNvPicPr>
            <a:picLocks noChangeAspect="1"/>
          </p:cNvPicPr>
          <p:nvPr/>
        </p:nvPicPr>
        <p:blipFill>
          <a:blip r:embed="rId5"/>
          <a:stretch>
            <a:fillRect/>
          </a:stretch>
        </p:blipFill>
        <p:spPr>
          <a:xfrm>
            <a:off x="357188" y="1716202"/>
            <a:ext cx="7515225" cy="4114800"/>
          </a:xfrm>
          <a:prstGeom prst="rect">
            <a:avLst/>
          </a:prstGeom>
        </p:spPr>
      </p:pic>
      <p:sp>
        <p:nvSpPr>
          <p:cNvPr id="17" name="CasellaDiTesto 16">
            <a:extLst>
              <a:ext uri="{FF2B5EF4-FFF2-40B4-BE49-F238E27FC236}">
                <a16:creationId xmlns:a16="http://schemas.microsoft.com/office/drawing/2014/main" id="{E4CBA4FB-F968-C7AF-C5D8-71900121EC43}"/>
              </a:ext>
            </a:extLst>
          </p:cNvPr>
          <p:cNvSpPr txBox="1"/>
          <p:nvPr/>
        </p:nvSpPr>
        <p:spPr>
          <a:xfrm>
            <a:off x="8113426" y="3216272"/>
            <a:ext cx="3480793" cy="1938992"/>
          </a:xfrm>
          <a:prstGeom prst="rect">
            <a:avLst/>
          </a:prstGeom>
          <a:noFill/>
        </p:spPr>
        <p:txBody>
          <a:bodyPr wrap="square">
            <a:spAutoFit/>
          </a:bodyPr>
          <a:lstStyle/>
          <a:p>
            <a:pPr>
              <a:buNone/>
            </a:pPr>
            <a:r>
              <a:rPr lang="pt-BR" sz="2400" dirty="0">
                <a:latin typeface="Arial" panose="020B0604020202020204" pitchFamily="34" charset="0"/>
                <a:cs typeface="Arial" panose="020B0604020202020204" pitchFamily="34" charset="0"/>
              </a:rPr>
              <a:t>FSR = </a:t>
            </a:r>
          </a:p>
          <a:p>
            <a:pPr>
              <a:buNone/>
            </a:pPr>
            <a:r>
              <a:rPr lang="pt-BR" sz="2400" dirty="0">
                <a:latin typeface="Arial" panose="020B0604020202020204" pitchFamily="34" charset="0"/>
                <a:cs typeface="Arial" panose="020B0604020202020204" pitchFamily="34" charset="0"/>
              </a:rPr>
              <a:t>λ² / (n_g · L) = </a:t>
            </a:r>
          </a:p>
          <a:p>
            <a:pPr>
              <a:buNone/>
            </a:pPr>
            <a:r>
              <a:rPr lang="pt-BR" sz="2400" dirty="0">
                <a:latin typeface="Arial" panose="020B0604020202020204" pitchFamily="34" charset="0"/>
                <a:cs typeface="Arial" panose="020B0604020202020204" pitchFamily="34" charset="0"/>
              </a:rPr>
              <a:t>(1.55 µm)² / (2.0 · 50 µm) = </a:t>
            </a:r>
          </a:p>
          <a:p>
            <a:pPr>
              <a:buNone/>
            </a:pPr>
            <a:r>
              <a:rPr lang="pt-BR" sz="2400" dirty="0">
                <a:latin typeface="Arial" panose="020B0604020202020204" pitchFamily="34" charset="0"/>
                <a:cs typeface="Arial" panose="020B0604020202020204" pitchFamily="34" charset="0"/>
              </a:rPr>
              <a:t>24.025 nm</a:t>
            </a:r>
          </a:p>
        </p:txBody>
      </p:sp>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441804" y="5276246"/>
            <a:ext cx="11199530" cy="584775"/>
          </a:xfrm>
          <a:prstGeom prst="rect">
            <a:avLst/>
          </a:prstGeom>
          <a:noFill/>
          <a:ln w="28575">
            <a:noFill/>
          </a:ln>
        </p:spPr>
        <p:txBody>
          <a:bodyPr wrap="square" rtlCol="0">
            <a:spAutoFit/>
          </a:bodyPr>
          <a:lstStyle/>
          <a:p>
            <a:r>
              <a:rPr lang="en-US" sz="1600" dirty="0"/>
              <a:t>To get FSR equal to 2 nm we need dL equal to 286 µm from the formula dL equal to lambda squared divided by ng times FSR. The simulation with this value gives fringes spaced exactly 2 nm apart across the full window, confirming the design works.</a:t>
            </a:r>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mc:AlternateContent xmlns:mc="http://schemas.openxmlformats.org/markup-compatibility/2006">
        <mc:Choice xmlns:a14="http://schemas.microsoft.com/office/drawing/2010/main" Requires="a14">
          <p:sp>
            <p:nvSpPr>
              <p:cNvPr id="17" name="CasellaDiTesto 16">
                <a:extLst>
                  <a:ext uri="{FF2B5EF4-FFF2-40B4-BE49-F238E27FC236}">
                    <a16:creationId xmlns:a16="http://schemas.microsoft.com/office/drawing/2014/main" id="{7EBB5843-66A8-6A7B-28AC-CDA5D13A736F}"/>
                  </a:ext>
                </a:extLst>
              </p:cNvPr>
              <p:cNvSpPr txBox="1"/>
              <p:nvPr/>
            </p:nvSpPr>
            <p:spPr>
              <a:xfrm>
                <a:off x="469661" y="2685416"/>
                <a:ext cx="1498423" cy="6385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i="1" smtClean="0">
                          <a:latin typeface="Cambria Math" panose="02040503050406030204" pitchFamily="18" charset="0"/>
                        </a:rPr>
                        <m:t>Δ</m:t>
                      </m:r>
                      <m:r>
                        <a:rPr lang="it-IT" i="1" smtClean="0">
                          <a:latin typeface="Cambria Math" panose="02040503050406030204" pitchFamily="18" charset="0"/>
                        </a:rPr>
                        <m:t>𝐿</m:t>
                      </m:r>
                      <m:r>
                        <a:rPr lang="it-IT" i="1" smtClean="0">
                          <a:latin typeface="Cambria Math" panose="02040503050406030204" pitchFamily="18" charset="0"/>
                        </a:rPr>
                        <m:t>=</m:t>
                      </m:r>
                      <m:f>
                        <m:fPr>
                          <m:ctrlPr>
                            <a:rPr lang="it-IT" i="1" smtClean="0">
                              <a:latin typeface="Cambria Math" panose="02040503050406030204" pitchFamily="18" charset="0"/>
                            </a:rPr>
                          </m:ctrlPr>
                        </m:fPr>
                        <m:num>
                          <m:sSubSup>
                            <m:sSubSupPr>
                              <m:ctrlPr>
                                <a:rPr lang="it-IT" i="1" smtClean="0">
                                  <a:latin typeface="Cambria Math" panose="02040503050406030204" pitchFamily="18" charset="0"/>
                                </a:rPr>
                              </m:ctrlPr>
                            </m:sSubSupPr>
                            <m:e>
                              <m:r>
                                <a:rPr lang="it-IT" i="1" smtClean="0">
                                  <a:latin typeface="Cambria Math" panose="02040503050406030204" pitchFamily="18" charset="0"/>
                                </a:rPr>
                                <m:t>𝜆</m:t>
                              </m:r>
                            </m:e>
                            <m:sub>
                              <m:r>
                                <a:rPr lang="it-IT" i="1" smtClean="0">
                                  <a:latin typeface="Cambria Math" panose="02040503050406030204" pitchFamily="18" charset="0"/>
                                </a:rPr>
                                <m:t>0</m:t>
                              </m:r>
                            </m:sub>
                            <m:sup>
                              <m:r>
                                <a:rPr lang="it-IT" i="1" smtClean="0">
                                  <a:latin typeface="Cambria Math" panose="02040503050406030204" pitchFamily="18" charset="0"/>
                                </a:rPr>
                                <m:t>2</m:t>
                              </m:r>
                            </m:sup>
                          </m:sSubSup>
                        </m:num>
                        <m:den>
                          <m:sSub>
                            <m:sSubPr>
                              <m:ctrlPr>
                                <a:rPr lang="it-IT" i="1" smtClean="0">
                                  <a:latin typeface="Cambria Math" panose="02040503050406030204" pitchFamily="18" charset="0"/>
                                </a:rPr>
                              </m:ctrlPr>
                            </m:sSubPr>
                            <m:e>
                              <m:r>
                                <a:rPr lang="it-IT" i="1" smtClean="0">
                                  <a:latin typeface="Cambria Math" panose="02040503050406030204" pitchFamily="18" charset="0"/>
                                </a:rPr>
                                <m:t>𝑛</m:t>
                              </m:r>
                            </m:e>
                            <m:sub>
                              <m:r>
                                <a:rPr lang="it-IT" i="1" smtClean="0">
                                  <a:latin typeface="Cambria Math" panose="02040503050406030204" pitchFamily="18" charset="0"/>
                                </a:rPr>
                                <m:t>𝑔</m:t>
                              </m:r>
                            </m:sub>
                          </m:sSub>
                          <m:r>
                            <a:rPr lang="it-IT" i="1" smtClean="0">
                              <a:latin typeface="Cambria Math" panose="02040503050406030204" pitchFamily="18" charset="0"/>
                            </a:rPr>
                            <m:t>∗</m:t>
                          </m:r>
                          <m:r>
                            <a:rPr lang="it-IT" i="1" smtClean="0">
                              <a:latin typeface="Cambria Math" panose="02040503050406030204" pitchFamily="18" charset="0"/>
                            </a:rPr>
                            <m:t>𝐹𝑆𝑅</m:t>
                          </m:r>
                        </m:den>
                      </m:f>
                    </m:oMath>
                  </m:oMathPara>
                </a14:m>
                <a:endParaRPr lang="it-IT" dirty="0"/>
              </a:p>
            </p:txBody>
          </p:sp>
        </mc:Choice>
        <mc:Fallback>
          <p:sp>
            <p:nvSpPr>
              <p:cNvPr id="17" name="CasellaDiTesto 16">
                <a:extLst>
                  <a:ext uri="{FF2B5EF4-FFF2-40B4-BE49-F238E27FC236}">
                    <a16:creationId xmlns:a16="http://schemas.microsoft.com/office/drawing/2014/main" id="{7EBB5843-66A8-6A7B-28AC-CDA5D13A736F}"/>
                  </a:ext>
                </a:extLst>
              </p:cNvPr>
              <p:cNvSpPr txBox="1">
                <a:spLocks noRot="1" noChangeAspect="1" noMove="1" noResize="1" noEditPoints="1" noAdjustHandles="1" noChangeArrowheads="1" noChangeShapeType="1" noTextEdit="1"/>
              </p:cNvSpPr>
              <p:nvPr/>
            </p:nvSpPr>
            <p:spPr>
              <a:xfrm>
                <a:off x="469661" y="2685416"/>
                <a:ext cx="1498423" cy="638573"/>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9" name="CasellaDiTesto 18">
                <a:extLst>
                  <a:ext uri="{FF2B5EF4-FFF2-40B4-BE49-F238E27FC236}">
                    <a16:creationId xmlns:a16="http://schemas.microsoft.com/office/drawing/2014/main" id="{19923059-3A37-5EA7-F205-873B4D1C06C6}"/>
                  </a:ext>
                </a:extLst>
              </p:cNvPr>
              <p:cNvSpPr txBox="1"/>
              <p:nvPr/>
            </p:nvSpPr>
            <p:spPr>
              <a:xfrm>
                <a:off x="1574561" y="2598160"/>
                <a:ext cx="2514600" cy="6647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m:t>
                      </m:r>
                      <m:f>
                        <m:fPr>
                          <m:ctrlPr>
                            <a:rPr lang="it-IT" i="1" smtClean="0">
                              <a:latin typeface="Cambria Math" panose="02040503050406030204" pitchFamily="18" charset="0"/>
                            </a:rPr>
                          </m:ctrlPr>
                        </m:fPr>
                        <m:num>
                          <m:sSubSup>
                            <m:sSubSupPr>
                              <m:ctrlPr>
                                <a:rPr lang="it-IT" i="1" smtClean="0">
                                  <a:latin typeface="Cambria Math" panose="02040503050406030204" pitchFamily="18" charset="0"/>
                                </a:rPr>
                              </m:ctrlPr>
                            </m:sSubSupPr>
                            <m:e>
                              <m:r>
                                <a:rPr lang="en-US" b="0" i="1" smtClean="0">
                                  <a:latin typeface="Cambria Math" panose="02040503050406030204" pitchFamily="18" charset="0"/>
                                </a:rPr>
                                <m:t>(1.55∗</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r>
                                <a:rPr lang="en-US" b="0" i="1" smtClean="0">
                                  <a:latin typeface="Cambria Math" panose="02040503050406030204" pitchFamily="18" charset="0"/>
                                </a:rPr>
                                <m:t>)</m:t>
                              </m:r>
                            </m:e>
                            <m:sub/>
                            <m:sup>
                              <m:r>
                                <a:rPr lang="it-IT" i="1" smtClean="0">
                                  <a:latin typeface="Cambria Math" panose="02040503050406030204" pitchFamily="18" charset="0"/>
                                </a:rPr>
                                <m:t>2</m:t>
                              </m:r>
                            </m:sup>
                          </m:sSubSup>
                        </m:num>
                        <m:den>
                          <m:r>
                            <a:rPr lang="en-US" b="0" i="1" smtClean="0">
                              <a:latin typeface="Cambria Math" panose="02040503050406030204" pitchFamily="18" charset="0"/>
                            </a:rPr>
                            <m:t>2.0∗</m:t>
                          </m:r>
                          <m:r>
                            <a:rPr lang="en-US" b="0" i="1" smtClean="0">
                              <a:latin typeface="Cambria Math" panose="02040503050406030204" pitchFamily="18" charset="0"/>
                            </a:rPr>
                            <m:t>4.2</m:t>
                          </m:r>
                          <m:r>
                            <a:rPr lang="it-IT" i="1" smtClean="0">
                              <a:latin typeface="Cambria Math" panose="02040503050406030204" pitchFamily="18" charset="0"/>
                            </a:rPr>
                            <m:t>∗</m:t>
                          </m:r>
                          <m:sSup>
                            <m:sSupPr>
                              <m:ctrlPr>
                                <a:rPr lang="it-IT"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den>
                      </m:f>
                    </m:oMath>
                  </m:oMathPara>
                </a14:m>
                <a:endParaRPr lang="it-IT" dirty="0"/>
              </a:p>
            </p:txBody>
          </p:sp>
        </mc:Choice>
        <mc:Fallback>
          <p:sp>
            <p:nvSpPr>
              <p:cNvPr id="19" name="CasellaDiTesto 18">
                <a:extLst>
                  <a:ext uri="{FF2B5EF4-FFF2-40B4-BE49-F238E27FC236}">
                    <a16:creationId xmlns:a16="http://schemas.microsoft.com/office/drawing/2014/main" id="{19923059-3A37-5EA7-F205-873B4D1C06C6}"/>
                  </a:ext>
                </a:extLst>
              </p:cNvPr>
              <p:cNvSpPr txBox="1">
                <a:spLocks noRot="1" noChangeAspect="1" noMove="1" noResize="1" noEditPoints="1" noAdjustHandles="1" noChangeArrowheads="1" noChangeShapeType="1" noTextEdit="1"/>
              </p:cNvSpPr>
              <p:nvPr/>
            </p:nvSpPr>
            <p:spPr>
              <a:xfrm>
                <a:off x="1574561" y="2598160"/>
                <a:ext cx="2514600" cy="664734"/>
              </a:xfrm>
              <a:prstGeom prst="rect">
                <a:avLst/>
              </a:prstGeom>
              <a:blipFill>
                <a:blip r:embed="rId5"/>
                <a:stretch>
                  <a:fillRect/>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21" name="CasellaDiTesto 20">
                <a:extLst>
                  <a:ext uri="{FF2B5EF4-FFF2-40B4-BE49-F238E27FC236}">
                    <a16:creationId xmlns:a16="http://schemas.microsoft.com/office/drawing/2014/main" id="{B218EAA0-5B71-295C-AE4D-A9E0A11E9477}"/>
                  </a:ext>
                </a:extLst>
              </p:cNvPr>
              <p:cNvSpPr txBox="1"/>
              <p:nvPr/>
            </p:nvSpPr>
            <p:spPr>
              <a:xfrm>
                <a:off x="3538616" y="2814429"/>
                <a:ext cx="1824990" cy="3805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m:t>
                      </m:r>
                      <m:r>
                        <a:rPr lang="en-US" b="0" i="1" smtClean="0">
                          <a:latin typeface="Cambria Math" panose="02040503050406030204" pitchFamily="18" charset="0"/>
                        </a:rPr>
                        <m:t>286</m:t>
                      </m:r>
                      <m:r>
                        <a:rPr lang="en-US" b="0" i="1" smtClean="0">
                          <a:latin typeface="Cambria Math" panose="02040503050406030204" pitchFamily="18" charset="0"/>
                        </a:rPr>
                        <m:t>.25 </m:t>
                      </m:r>
                      <m:r>
                        <a:rPr lang="en-US" b="0" i="1" smtClean="0">
                          <a:latin typeface="Cambria Math" panose="02040503050406030204" pitchFamily="18" charset="0"/>
                        </a:rPr>
                        <m:t>𝑢𝑚</m:t>
                      </m:r>
                    </m:oMath>
                  </m:oMathPara>
                </a14:m>
                <a:endParaRPr lang="it-IT" dirty="0"/>
              </a:p>
            </p:txBody>
          </p:sp>
        </mc:Choice>
        <mc:Fallback>
          <p:sp>
            <p:nvSpPr>
              <p:cNvPr id="21" name="CasellaDiTesto 20">
                <a:extLst>
                  <a:ext uri="{FF2B5EF4-FFF2-40B4-BE49-F238E27FC236}">
                    <a16:creationId xmlns:a16="http://schemas.microsoft.com/office/drawing/2014/main" id="{B218EAA0-5B71-295C-AE4D-A9E0A11E9477}"/>
                  </a:ext>
                </a:extLst>
              </p:cNvPr>
              <p:cNvSpPr txBox="1">
                <a:spLocks noRot="1" noChangeAspect="1" noMove="1" noResize="1" noEditPoints="1" noAdjustHandles="1" noChangeArrowheads="1" noChangeShapeType="1" noTextEdit="1"/>
              </p:cNvSpPr>
              <p:nvPr/>
            </p:nvSpPr>
            <p:spPr>
              <a:xfrm>
                <a:off x="3538616" y="2814429"/>
                <a:ext cx="1824990" cy="380545"/>
              </a:xfrm>
              <a:prstGeom prst="rect">
                <a:avLst/>
              </a:prstGeom>
              <a:blipFill>
                <a:blip r:embed="rId6"/>
                <a:stretch>
                  <a:fillRect/>
                </a:stretch>
              </a:blipFill>
            </p:spPr>
            <p:txBody>
              <a:bodyPr/>
              <a:lstStyle/>
              <a:p>
                <a:r>
                  <a:rPr lang="it-IT">
                    <a:noFill/>
                  </a:rPr>
                  <a:t> </a:t>
                </a:r>
              </a:p>
            </p:txBody>
          </p:sp>
        </mc:Fallback>
      </mc:AlternateContent>
      <p:pic>
        <p:nvPicPr>
          <p:cNvPr id="3" name="Immagine 2">
            <a:extLst>
              <a:ext uri="{FF2B5EF4-FFF2-40B4-BE49-F238E27FC236}">
                <a16:creationId xmlns:a16="http://schemas.microsoft.com/office/drawing/2014/main" id="{2C149A61-8E32-7C89-2E23-7B59C7472566}"/>
              </a:ext>
            </a:extLst>
          </p:cNvPr>
          <p:cNvPicPr>
            <a:picLocks noChangeAspect="1"/>
          </p:cNvPicPr>
          <p:nvPr/>
        </p:nvPicPr>
        <p:blipFill>
          <a:blip r:embed="rId7"/>
          <a:stretch>
            <a:fillRect/>
          </a:stretch>
        </p:blipFill>
        <p:spPr>
          <a:xfrm>
            <a:off x="5194935" y="1101727"/>
            <a:ext cx="6680200" cy="3657600"/>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381001" y="23812"/>
            <a:ext cx="662940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762000" y="1600200"/>
            <a:ext cx="3841715" cy="4247317"/>
          </a:xfrm>
          <a:prstGeom prst="rect">
            <a:avLst/>
          </a:prstGeom>
          <a:noFill/>
          <a:ln w="28575">
            <a:noFill/>
          </a:ln>
        </p:spPr>
        <p:txBody>
          <a:bodyPr wrap="square" rtlCol="0">
            <a:spAutoFit/>
          </a:bodyPr>
          <a:lstStyle/>
          <a:p>
            <a:r>
              <a:rPr lang="en-US" dirty="0"/>
              <a:t>In Case 1 with Ka equal to </a:t>
            </a:r>
            <a:r>
              <a:rPr lang="en-US" dirty="0" err="1"/>
              <a:t>Kb</a:t>
            </a:r>
            <a:r>
              <a:rPr lang="en-US" dirty="0"/>
              <a:t> equal to 0.5 there is an interference pattern but the visibility is low. The long arm is about 57 mm longer so it loses around 22 dB more than the short one, which makes the two signals very unequal at the output and gives an ER of about 1.25 </a:t>
            </a:r>
            <a:r>
              <a:rPr lang="en-US" dirty="0" err="1"/>
              <a:t>dB.</a:t>
            </a:r>
            <a:r>
              <a:rPr lang="en-US" dirty="0"/>
              <a:t> In Case 2 with Ka equal to 0.1 most of the power stays in the short arm so there is almost nothing left in the long arm to interfere with. The fringes nearly disappear and the ER drops to around 0.4 </a:t>
            </a:r>
            <a:r>
              <a:rPr lang="en-US" dirty="0" err="1"/>
              <a:t>dB.</a:t>
            </a:r>
            <a:r>
              <a:rPr lang="en-US" dirty="0"/>
              <a:t> The key point is that interference only works well when the two amplitudes are similar.</a:t>
            </a:r>
          </a:p>
        </p:txBody>
      </p:sp>
      <p:sp>
        <p:nvSpPr>
          <p:cNvPr id="3" name="CasellaDiTesto 2">
            <a:extLst>
              <a:ext uri="{FF2B5EF4-FFF2-40B4-BE49-F238E27FC236}">
                <a16:creationId xmlns:a16="http://schemas.microsoft.com/office/drawing/2014/main" id="{BF6F3C10-8009-44EF-B0B9-62108142F326}"/>
              </a:ext>
            </a:extLst>
          </p:cNvPr>
          <p:cNvSpPr txBox="1"/>
          <p:nvPr/>
        </p:nvSpPr>
        <p:spPr>
          <a:xfrm>
            <a:off x="2362200" y="540157"/>
            <a:ext cx="5715000" cy="769441"/>
          </a:xfrm>
          <a:prstGeom prst="rect">
            <a:avLst/>
          </a:prstGeom>
          <a:noFill/>
        </p:spPr>
        <p:txBody>
          <a:bodyPr wrap="square" rtlCol="0">
            <a:spAutoFit/>
          </a:bodyPr>
          <a:lstStyle/>
          <a:p>
            <a:pPr algn="just"/>
            <a:r>
              <a:rPr lang="en-US" sz="1100" b="1" dirty="0">
                <a:latin typeface="Arial" panose="020B0604020202020204" pitchFamily="34" charset="0"/>
                <a:cs typeface="Arial" panose="020B0604020202020204" pitchFamily="34" charset="0"/>
                <a:sym typeface="Wingdings" pitchFamily="2" charset="2"/>
              </a:rPr>
              <a:t>Case 1</a:t>
            </a:r>
            <a:r>
              <a:rPr lang="en-US" sz="1100" dirty="0">
                <a:latin typeface="Arial" panose="020B0604020202020204" pitchFamily="34" charset="0"/>
                <a:cs typeface="Arial" panose="020B0604020202020204" pitchFamily="34" charset="0"/>
                <a:sym typeface="Wingdings" pitchFamily="2" charset="2"/>
              </a:rPr>
              <a:t>. Simulate for Ka = </a:t>
            </a:r>
            <a:r>
              <a:rPr lang="en-US" sz="1100" dirty="0" err="1">
                <a:latin typeface="Arial" panose="020B0604020202020204" pitchFamily="34" charset="0"/>
                <a:cs typeface="Arial" panose="020B0604020202020204" pitchFamily="34" charset="0"/>
                <a:sym typeface="Wingdings" pitchFamily="2" charset="2"/>
              </a:rPr>
              <a:t>Kb</a:t>
            </a:r>
            <a:r>
              <a:rPr lang="en-US" sz="1100" dirty="0">
                <a:latin typeface="Arial" panose="020B0604020202020204" pitchFamily="34" charset="0"/>
                <a:cs typeface="Arial" panose="020B0604020202020204" pitchFamily="34" charset="0"/>
                <a:sym typeface="Wingdings" pitchFamily="2" charset="2"/>
              </a:rPr>
              <a:t> = 0.5 for all </a:t>
            </a:r>
            <a:r>
              <a:rPr lang="en-US" sz="1100" dirty="0" err="1">
                <a:latin typeface="Arial" panose="020B0604020202020204" pitchFamily="34" charset="0"/>
                <a:cs typeface="Arial" panose="020B0604020202020204" pitchFamily="34" charset="0"/>
                <a:sym typeface="Wingdings" pitchFamily="2" charset="2"/>
              </a:rPr>
              <a:t>wvl</a:t>
            </a:r>
            <a:endParaRPr lang="en-US" sz="1100" dirty="0">
              <a:latin typeface="Arial" panose="020B0604020202020204" pitchFamily="34" charset="0"/>
              <a:cs typeface="Arial" panose="020B0604020202020204" pitchFamily="34" charset="0"/>
              <a:sym typeface="Wingdings" pitchFamily="2" charset="2"/>
            </a:endParaRPr>
          </a:p>
          <a:p>
            <a:pPr algn="just"/>
            <a:r>
              <a:rPr lang="en-US" sz="1100" b="1" dirty="0">
                <a:latin typeface="Arial" panose="020B0604020202020204" pitchFamily="34" charset="0"/>
                <a:cs typeface="Arial" panose="020B0604020202020204" pitchFamily="34" charset="0"/>
                <a:sym typeface="Wingdings" pitchFamily="2" charset="2"/>
              </a:rPr>
              <a:t>Case 2</a:t>
            </a:r>
            <a:r>
              <a:rPr lang="en-US" sz="1100" dirty="0">
                <a:latin typeface="Arial" panose="020B0604020202020204" pitchFamily="34" charset="0"/>
                <a:cs typeface="Arial" panose="020B0604020202020204" pitchFamily="34" charset="0"/>
                <a:sym typeface="Wingdings" pitchFamily="2" charset="2"/>
              </a:rPr>
              <a:t>. Simulate for Ka=0.1 for all </a:t>
            </a:r>
            <a:r>
              <a:rPr lang="en-US" sz="1100" dirty="0" err="1">
                <a:latin typeface="Arial" panose="020B0604020202020204" pitchFamily="34" charset="0"/>
                <a:cs typeface="Arial" panose="020B0604020202020204" pitchFamily="34" charset="0"/>
                <a:sym typeface="Wingdings" pitchFamily="2" charset="2"/>
              </a:rPr>
              <a:t>wvl</a:t>
            </a:r>
            <a:r>
              <a:rPr lang="en-US" sz="1100" dirty="0">
                <a:latin typeface="Arial" panose="020B0604020202020204" pitchFamily="34" charset="0"/>
                <a:cs typeface="Arial" panose="020B0604020202020204" pitchFamily="34" charset="0"/>
                <a:sym typeface="Wingdings" pitchFamily="2" charset="2"/>
              </a:rPr>
              <a:t> </a:t>
            </a:r>
          </a:p>
          <a:p>
            <a:pPr algn="just"/>
            <a:r>
              <a:rPr lang="en-US" sz="1100" dirty="0" err="1">
                <a:latin typeface="Arial" panose="020B0604020202020204" pitchFamily="34" charset="0"/>
                <a:cs typeface="Arial" panose="020B0604020202020204" pitchFamily="34" charset="0"/>
                <a:sym typeface="Wingdings" pitchFamily="2" charset="2"/>
              </a:rPr>
              <a:t>Kb</a:t>
            </a:r>
            <a:r>
              <a:rPr lang="en-US" sz="1100" dirty="0">
                <a:latin typeface="Arial" panose="020B0604020202020204" pitchFamily="34" charset="0"/>
                <a:cs typeface="Arial" panose="020B0604020202020204" pitchFamily="34" charset="0"/>
                <a:sym typeface="Wingdings" pitchFamily="2" charset="2"/>
              </a:rPr>
              <a:t>=0.5 for all </a:t>
            </a:r>
            <a:r>
              <a:rPr lang="en-US" sz="1100" dirty="0" err="1">
                <a:latin typeface="Arial" panose="020B0604020202020204" pitchFamily="34" charset="0"/>
                <a:cs typeface="Arial" panose="020B0604020202020204" pitchFamily="34" charset="0"/>
                <a:sym typeface="Wingdings" pitchFamily="2" charset="2"/>
              </a:rPr>
              <a:t>wvl</a:t>
            </a:r>
            <a:endParaRPr lang="en-US" sz="1100" dirty="0">
              <a:latin typeface="Arial" panose="020B0604020202020204" pitchFamily="34" charset="0"/>
              <a:cs typeface="Arial" panose="020B0604020202020204" pitchFamily="34" charset="0"/>
            </a:endParaRPr>
          </a:p>
          <a:p>
            <a:endParaRPr lang="it-IT" sz="1050" dirty="0"/>
          </a:p>
        </p:txBody>
      </p:sp>
      <p:pic>
        <p:nvPicPr>
          <p:cNvPr id="5" name="Immagine 4">
            <a:extLst>
              <a:ext uri="{FF2B5EF4-FFF2-40B4-BE49-F238E27FC236}">
                <a16:creationId xmlns:a16="http://schemas.microsoft.com/office/drawing/2014/main" id="{615C2D43-A703-2595-C2D2-5CA7619308CA}"/>
              </a:ext>
            </a:extLst>
          </p:cNvPr>
          <p:cNvPicPr>
            <a:picLocks noChangeAspect="1"/>
          </p:cNvPicPr>
          <p:nvPr/>
        </p:nvPicPr>
        <p:blipFill>
          <a:blip r:embed="rId4"/>
          <a:stretch>
            <a:fillRect/>
          </a:stretch>
        </p:blipFill>
        <p:spPr>
          <a:xfrm>
            <a:off x="6609413" y="3394143"/>
            <a:ext cx="5028341" cy="2852737"/>
          </a:xfrm>
          <a:prstGeom prst="rect">
            <a:avLst/>
          </a:prstGeom>
        </p:spPr>
      </p:pic>
      <p:pic>
        <p:nvPicPr>
          <p:cNvPr id="9" name="Immagine 8">
            <a:extLst>
              <a:ext uri="{FF2B5EF4-FFF2-40B4-BE49-F238E27FC236}">
                <a16:creationId xmlns:a16="http://schemas.microsoft.com/office/drawing/2014/main" id="{ABBF676A-A01E-80ED-74C9-78883EEAE8B1}"/>
              </a:ext>
            </a:extLst>
          </p:cNvPr>
          <p:cNvPicPr>
            <a:picLocks noChangeAspect="1"/>
          </p:cNvPicPr>
          <p:nvPr/>
        </p:nvPicPr>
        <p:blipFill>
          <a:blip r:embed="rId5"/>
          <a:stretch>
            <a:fillRect/>
          </a:stretch>
        </p:blipFill>
        <p:spPr>
          <a:xfrm>
            <a:off x="6629400" y="518921"/>
            <a:ext cx="5084768" cy="2852737"/>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7546150" y="1524000"/>
            <a:ext cx="4280278" cy="2308324"/>
          </a:xfrm>
          <a:prstGeom prst="rect">
            <a:avLst/>
          </a:prstGeom>
          <a:noFill/>
          <a:ln w="28575">
            <a:noFill/>
          </a:ln>
        </p:spPr>
        <p:txBody>
          <a:bodyPr wrap="square" rtlCol="0">
            <a:spAutoFit/>
          </a:bodyPr>
          <a:lstStyle/>
          <a:p>
            <a:pPr algn="just"/>
            <a:r>
              <a:rPr lang="en-US" dirty="0"/>
              <a:t>The ring shows periodic dips every 24 nm. Between resonances transmission stays near 1 and at resonance light couples into the ring and gets absorbed by propagation loss. The FSR calculated from the formula with ng equal to 2.0 and L equal to 50 µm gives exactly 24.025 nm which matches the plot.</a:t>
            </a:r>
            <a:endParaRPr lang="en-US" sz="1600" dirty="0">
              <a:latin typeface="Arial" panose="020B0604020202020204" pitchFamily="34" charset="0"/>
              <a:cs typeface="Arial" panose="020B0604020202020204" pitchFamily="34" charset="0"/>
            </a:endParaRPr>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228600" y="118110"/>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85A27F01-714F-2778-F4E8-13C37B9579F7}"/>
                  </a:ext>
                </a:extLst>
              </p:cNvPr>
              <p:cNvSpPr txBox="1"/>
              <p:nvPr/>
            </p:nvSpPr>
            <p:spPr>
              <a:xfrm>
                <a:off x="6923410" y="4386481"/>
                <a:ext cx="5254358" cy="768608"/>
              </a:xfrm>
              <a:prstGeom prst="rect">
                <a:avLst/>
              </a:prstGeom>
              <a:noFill/>
            </p:spPr>
            <p:txBody>
              <a:bodyPr wrap="square" lIns="0" tIns="0" rIns="0" bIns="0" rtlCol="0">
                <a:spAutoFit/>
              </a:bodyPr>
              <a:lstStyle/>
              <a:p>
                <a14:m>
                  <m:oMath xmlns:m="http://schemas.openxmlformats.org/officeDocument/2006/math">
                    <m:sSub>
                      <m:sSubPr>
                        <m:ctrlPr>
                          <a:rPr lang="el-GR" sz="2400" i="1" smtClean="0">
                            <a:latin typeface="Cambria Math" panose="02040503050406030204" pitchFamily="18" charset="0"/>
                          </a:rPr>
                        </m:ctrlPr>
                      </m:sSubPr>
                      <m:e>
                        <m:r>
                          <m:rPr>
                            <m:nor/>
                          </m:rPr>
                          <a:rPr lang="el-GR" sz="2400"/>
                          <m:t>Δλ</m:t>
                        </m:r>
                      </m:e>
                      <m:sub>
                        <m:r>
                          <a:rPr lang="en-US" sz="2400" b="0" i="1" smtClean="0">
                            <a:latin typeface="Cambria Math" panose="02040503050406030204" pitchFamily="18" charset="0"/>
                          </a:rPr>
                          <m:t>𝐹𝑆𝑅</m:t>
                        </m:r>
                      </m:sub>
                    </m:sSub>
                    <m:r>
                      <a:rPr lang="en-US" sz="2400" i="1" smtClean="0">
                        <a:latin typeface="Cambria Math" panose="02040503050406030204" pitchFamily="18" charset="0"/>
                      </a:rPr>
                      <m:t>=</m:t>
                    </m:r>
                    <m:f>
                      <m:fPr>
                        <m:ctrlPr>
                          <a:rPr lang="en-US" sz="2400" i="1" smtClean="0">
                            <a:latin typeface="Cambria Math" panose="02040503050406030204" pitchFamily="18" charset="0"/>
                          </a:rPr>
                        </m:ctrlPr>
                      </m:fPr>
                      <m:num>
                        <m:sSup>
                          <m:sSupPr>
                            <m:ctrlPr>
                              <a:rPr lang="en-US" sz="2400" i="1" smtClean="0">
                                <a:latin typeface="Cambria Math" panose="02040503050406030204" pitchFamily="18" charset="0"/>
                              </a:rPr>
                            </m:ctrlPr>
                          </m:sSupPr>
                          <m:e>
                            <m:sSub>
                              <m:sSubPr>
                                <m:ctrlPr>
                                  <a:rPr lang="en-US" sz="2400" i="1" smtClean="0">
                                    <a:latin typeface="Cambria Math" panose="02040503050406030204" pitchFamily="18" charset="0"/>
                                  </a:rPr>
                                </m:ctrlPr>
                              </m:sSubPr>
                              <m:e>
                                <m:r>
                                  <m:rPr>
                                    <m:nor/>
                                  </m:rPr>
                                  <a:rPr lang="el-GR" sz="2400"/>
                                  <m:t>λ</m:t>
                                </m:r>
                              </m:e>
                              <m:sub>
                                <m:r>
                                  <a:rPr lang="en-US" sz="2400" b="0" i="1" smtClean="0">
                                    <a:latin typeface="Cambria Math" panose="02040503050406030204" pitchFamily="18" charset="0"/>
                                  </a:rPr>
                                  <m:t>0</m:t>
                                </m:r>
                              </m:sub>
                            </m:sSub>
                          </m:e>
                          <m:sup>
                            <m:r>
                              <a:rPr lang="en-US" sz="2400" b="0" i="1" smtClean="0">
                                <a:latin typeface="Cambria Math" panose="02040503050406030204" pitchFamily="18" charset="0"/>
                              </a:rPr>
                              <m:t>2</m:t>
                            </m:r>
                          </m:sup>
                        </m:sSup>
                      </m:num>
                      <m:den>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n</m:t>
                            </m:r>
                          </m:e>
                          <m:sub>
                            <m:r>
                              <m:rPr>
                                <m:nor/>
                              </m:rPr>
                              <a:rPr lang="it-IT" sz="2400"/>
                              <m:t>g</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L</m:t>
                            </m:r>
                          </m:e>
                          <m:sub>
                            <m:r>
                              <m:rPr>
                                <m:sty m:val="p"/>
                              </m:rPr>
                              <a:rPr lang="en-US" sz="2400" b="0" i="1" smtClean="0">
                                <a:latin typeface="Cambria Math" panose="02040503050406030204" pitchFamily="18" charset="0"/>
                              </a:rPr>
                              <m:t>r</m:t>
                            </m:r>
                          </m:sub>
                        </m:sSub>
                      </m:den>
                    </m:f>
                  </m:oMath>
                </a14:m>
                <a:r>
                  <a:rPr lang="it-IT" sz="2400" dirty="0"/>
                  <a:t> = </a:t>
                </a:r>
                <a14:m>
                  <m:oMath xmlns:m="http://schemas.openxmlformats.org/officeDocument/2006/math">
                    <m:f>
                      <m:fPr>
                        <m:ctrlPr>
                          <a:rPr lang="it-IT" sz="2400" i="1">
                            <a:latin typeface="Cambria Math" panose="02040503050406030204" pitchFamily="18" charset="0"/>
                          </a:rPr>
                        </m:ctrlPr>
                      </m:fPr>
                      <m:num>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1">
                                    <a:latin typeface="Cambria Math" panose="02040503050406030204" pitchFamily="18" charset="0"/>
                                  </a:rPr>
                                  <m:t>1.55∗</m:t>
                                </m:r>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−6</m:t>
                                    </m:r>
                                  </m:sup>
                                </m:sSup>
                              </m:e>
                            </m:d>
                          </m:e>
                          <m:sup>
                            <m:r>
                              <a:rPr lang="it-IT" sz="2400" i="1">
                                <a:latin typeface="Cambria Math" panose="02040503050406030204" pitchFamily="18" charset="0"/>
                              </a:rPr>
                              <m:t>2</m:t>
                            </m:r>
                          </m:sup>
                        </m:sSup>
                      </m:num>
                      <m:den>
                        <m:r>
                          <a:rPr lang="en-US" sz="2400" b="0" i="1" smtClean="0">
                            <a:latin typeface="Cambria Math" panose="02040503050406030204" pitchFamily="18" charset="0"/>
                          </a:rPr>
                          <m:t> </m:t>
                        </m:r>
                        <m:r>
                          <a:rPr lang="en-US" sz="2400" i="1">
                            <a:latin typeface="Cambria Math" panose="02040503050406030204" pitchFamily="18" charset="0"/>
                          </a:rPr>
                          <m:t>2.0∗</m:t>
                        </m:r>
                        <m:r>
                          <a:rPr lang="en-US" sz="2400" b="0" i="1" smtClean="0">
                            <a:latin typeface="Cambria Math" panose="02040503050406030204" pitchFamily="18" charset="0"/>
                          </a:rPr>
                          <m:t>50</m:t>
                        </m:r>
                        <m:r>
                          <a:rPr lang="it-IT" sz="2400" i="1">
                            <a:latin typeface="Cambria Math" panose="02040503050406030204" pitchFamily="18" charset="0"/>
                          </a:rPr>
                          <m:t>∗</m:t>
                        </m:r>
                        <m:sSup>
                          <m:sSupPr>
                            <m:ctrlPr>
                              <a:rPr lang="it-IT"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m:t>
                            </m:r>
                            <m:r>
                              <a:rPr lang="en-US" sz="2400" b="0" i="1" smtClean="0">
                                <a:latin typeface="Cambria Math" panose="02040503050406030204" pitchFamily="18" charset="0"/>
                              </a:rPr>
                              <m:t>6</m:t>
                            </m:r>
                          </m:sup>
                        </m:sSup>
                      </m:den>
                    </m:f>
                  </m:oMath>
                </a14:m>
                <a:r>
                  <a:rPr lang="it-IT" sz="2400" dirty="0"/>
                  <a:t> = 24.03nm</a:t>
                </a:r>
              </a:p>
            </p:txBody>
          </p:sp>
        </mc:Choice>
        <mc:Fallback xmlns="">
          <p:sp>
            <p:nvSpPr>
              <p:cNvPr id="18" name="CasellaDiTesto 17">
                <a:extLst>
                  <a:ext uri="{FF2B5EF4-FFF2-40B4-BE49-F238E27FC236}">
                    <a16:creationId xmlns:a16="http://schemas.microsoft.com/office/drawing/2014/main" id="{85A27F01-714F-2778-F4E8-13C37B9579F7}"/>
                  </a:ext>
                </a:extLst>
              </p:cNvPr>
              <p:cNvSpPr txBox="1">
                <a:spLocks noRot="1" noChangeAspect="1" noMove="1" noResize="1" noEditPoints="1" noAdjustHandles="1" noChangeArrowheads="1" noChangeShapeType="1" noTextEdit="1"/>
              </p:cNvSpPr>
              <p:nvPr/>
            </p:nvSpPr>
            <p:spPr>
              <a:xfrm>
                <a:off x="6923410" y="4386481"/>
                <a:ext cx="5254358" cy="768608"/>
              </a:xfrm>
              <a:prstGeom prst="rect">
                <a:avLst/>
              </a:prstGeom>
              <a:blipFill>
                <a:blip r:embed="rId5"/>
                <a:stretch>
                  <a:fillRect/>
                </a:stretch>
              </a:blipFill>
            </p:spPr>
            <p:txBody>
              <a:bodyPr/>
              <a:lstStyle/>
              <a:p>
                <a:r>
                  <a:rPr lang="it-IT">
                    <a:noFill/>
                  </a:rPr>
                  <a:t> </a:t>
                </a:r>
              </a:p>
            </p:txBody>
          </p:sp>
        </mc:Fallback>
      </mc:AlternateContent>
      <p:pic>
        <p:nvPicPr>
          <p:cNvPr id="3" name="Immagine 2">
            <a:extLst>
              <a:ext uri="{FF2B5EF4-FFF2-40B4-BE49-F238E27FC236}">
                <a16:creationId xmlns:a16="http://schemas.microsoft.com/office/drawing/2014/main" id="{673FA93F-967F-DB96-8E85-353D28B9E380}"/>
              </a:ext>
            </a:extLst>
          </p:cNvPr>
          <p:cNvPicPr>
            <a:picLocks noChangeAspect="1"/>
          </p:cNvPicPr>
          <p:nvPr/>
        </p:nvPicPr>
        <p:blipFill>
          <a:blip r:embed="rId6"/>
          <a:stretch>
            <a:fillRect/>
          </a:stretch>
        </p:blipFill>
        <p:spPr>
          <a:xfrm>
            <a:off x="228600" y="1487774"/>
            <a:ext cx="6694810" cy="3840847"/>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8</a:t>
            </a:fld>
            <a:endParaRPr lang="en-US" dirty="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53669" y="26659"/>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4DE7A6D3-AA91-EEF8-28C5-C3ABB9976FEE}"/>
                  </a:ext>
                </a:extLst>
              </p:cNvPr>
              <p:cNvSpPr txBox="1"/>
              <p:nvPr/>
            </p:nvSpPr>
            <p:spPr>
              <a:xfrm>
                <a:off x="6400800" y="436146"/>
                <a:ext cx="6129336" cy="668966"/>
              </a:xfrm>
              <a:prstGeom prst="rect">
                <a:avLst/>
              </a:prstGeom>
              <a:noFill/>
            </p:spPr>
            <p:txBody>
              <a:bodyPr wrap="square">
                <a:spAutoFit/>
              </a:bodyPr>
              <a:lstStyle/>
              <a:p>
                <a14:m>
                  <m:oMath xmlns:m="http://schemas.openxmlformats.org/officeDocument/2006/math">
                    <m:sSub>
                      <m:sSubPr>
                        <m:ctrlPr>
                          <a:rPr lang="el-GR" i="1" smtClean="0">
                            <a:latin typeface="Cambria Math" panose="02040503050406030204" pitchFamily="18" charset="0"/>
                          </a:rPr>
                        </m:ctrlPr>
                      </m:sSubPr>
                      <m:e>
                        <m:r>
                          <m:rPr>
                            <m:nor/>
                          </m:rPr>
                          <a:rPr lang="el-GR"/>
                          <m:t>Δλ</m:t>
                        </m:r>
                      </m:e>
                      <m:sub>
                        <m:r>
                          <a:rPr lang="en-US" b="0" i="1" smtClean="0">
                            <a:latin typeface="Cambria Math" panose="02040503050406030204" pitchFamily="18" charset="0"/>
                          </a:rPr>
                          <m:t>𝐹𝑆𝑅</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sSub>
                              <m:sSubPr>
                                <m:ctrlPr>
                                  <a:rPr lang="en-US" i="1" smtClean="0">
                                    <a:latin typeface="Cambria Math" panose="02040503050406030204" pitchFamily="18" charset="0"/>
                                  </a:rPr>
                                </m:ctrlPr>
                              </m:sSubPr>
                              <m:e>
                                <m:r>
                                  <m:rPr>
                                    <m:nor/>
                                  </m:rPr>
                                  <a:rPr lang="el-GR"/>
                                  <m:t>λ</m:t>
                                </m:r>
                              </m:e>
                              <m:sub>
                                <m:r>
                                  <a:rPr lang="en-US" b="0" i="1" smtClean="0">
                                    <a:latin typeface="Cambria Math" panose="02040503050406030204" pitchFamily="18" charset="0"/>
                                  </a:rPr>
                                  <m:t>0</m:t>
                                </m:r>
                              </m:sub>
                            </m:sSub>
                          </m:e>
                          <m:sup>
                            <m:r>
                              <a:rPr lang="en-US" b="0" i="1" smtClean="0">
                                <a:latin typeface="Cambria Math" panose="02040503050406030204" pitchFamily="18" charset="0"/>
                              </a:rPr>
                              <m:t>2</m:t>
                            </m:r>
                          </m:sup>
                        </m:sSup>
                      </m:num>
                      <m:den>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n</m:t>
                            </m:r>
                          </m:e>
                          <m:sub>
                            <m:r>
                              <m:rPr>
                                <m:nor/>
                              </m:rPr>
                              <a:rPr lang="it-IT"/>
                              <m:t>g</m:t>
                            </m:r>
                          </m:sub>
                        </m:sSub>
                        <m:r>
                          <a:rPr lang="en-US" b="0" i="1" smtClean="0">
                            <a:latin typeface="Cambria Math" panose="02040503050406030204" pitchFamily="18" charset="0"/>
                          </a:rPr>
                          <m:t>∗</m:t>
                        </m:r>
                        <m:r>
                          <m:rPr>
                            <m:sty m:val="p"/>
                          </m:rPr>
                          <a:rPr lang="en-US" b="0" i="1" smtClean="0">
                            <a:latin typeface="Cambria Math" panose="02040503050406030204" pitchFamily="18" charset="0"/>
                          </a:rPr>
                          <m:t>FSR</m:t>
                        </m:r>
                      </m:den>
                    </m:f>
                  </m:oMath>
                </a14:m>
                <a:r>
                  <a:rPr lang="it-IT" dirty="0"/>
                  <a:t> = </a:t>
                </a:r>
                <a14:m>
                  <m:oMath xmlns:m="http://schemas.openxmlformats.org/officeDocument/2006/math">
                    <m:f>
                      <m:fPr>
                        <m:ctrlPr>
                          <a:rPr lang="it-IT"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1.55∗</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e>
                            </m:d>
                          </m:e>
                          <m:sup>
                            <m:r>
                              <a:rPr lang="it-IT" i="1">
                                <a:latin typeface="Cambria Math" panose="02040503050406030204" pitchFamily="18" charset="0"/>
                              </a:rPr>
                              <m:t>2</m:t>
                            </m:r>
                          </m:sup>
                        </m:sSup>
                      </m:num>
                      <m:den>
                        <m:r>
                          <a:rPr lang="en-US" b="0" i="1" smtClean="0">
                            <a:latin typeface="Cambria Math" panose="02040503050406030204" pitchFamily="18" charset="0"/>
                          </a:rPr>
                          <m:t> </m:t>
                        </m:r>
                        <m:r>
                          <a:rPr lang="en-US" b="0" i="1" smtClean="0">
                            <a:latin typeface="Cambria Math" panose="02040503050406030204" pitchFamily="18" charset="0"/>
                          </a:rPr>
                          <m:t>2.0</m:t>
                        </m:r>
                        <m:r>
                          <a:rPr lang="en-US" i="1">
                            <a:latin typeface="Cambria Math" panose="02040503050406030204" pitchFamily="18" charset="0"/>
                          </a:rPr>
                          <m:t>∗</m:t>
                        </m:r>
                        <m:r>
                          <a:rPr lang="en-US" b="0" i="1" smtClean="0">
                            <a:latin typeface="Cambria Math" panose="02040503050406030204" pitchFamily="18" charset="0"/>
                          </a:rPr>
                          <m:t>15</m:t>
                        </m:r>
                        <m:r>
                          <a:rPr lang="it-IT" i="1">
                            <a:latin typeface="Cambria Math" panose="02040503050406030204" pitchFamily="18" charset="0"/>
                          </a:rPr>
                          <m:t>∗</m:t>
                        </m:r>
                        <m:sSup>
                          <m:sSupPr>
                            <m:ctrlPr>
                              <a:rPr lang="it-IT"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−9</m:t>
                            </m:r>
                          </m:sup>
                        </m:sSup>
                      </m:den>
                    </m:f>
                  </m:oMath>
                </a14:m>
                <a:r>
                  <a:rPr lang="it-IT" dirty="0"/>
                  <a:t> = 80.08 </a:t>
                </a:r>
                <a:r>
                  <a:rPr lang="it-IT" dirty="0" err="1"/>
                  <a:t>um</a:t>
                </a:r>
                <a:endParaRPr lang="it-IT" dirty="0"/>
              </a:p>
            </p:txBody>
          </p:sp>
        </mc:Choice>
        <mc:Fallback>
          <p:sp>
            <p:nvSpPr>
              <p:cNvPr id="9" name="CasellaDiTesto 8">
                <a:extLst>
                  <a:ext uri="{FF2B5EF4-FFF2-40B4-BE49-F238E27FC236}">
                    <a16:creationId xmlns:a16="http://schemas.microsoft.com/office/drawing/2014/main" id="{4DE7A6D3-AA91-EEF8-28C5-C3ABB9976FEE}"/>
                  </a:ext>
                </a:extLst>
              </p:cNvPr>
              <p:cNvSpPr txBox="1">
                <a:spLocks noRot="1" noChangeAspect="1" noMove="1" noResize="1" noEditPoints="1" noAdjustHandles="1" noChangeArrowheads="1" noChangeShapeType="1" noTextEdit="1"/>
              </p:cNvSpPr>
              <p:nvPr/>
            </p:nvSpPr>
            <p:spPr>
              <a:xfrm>
                <a:off x="6400800" y="436146"/>
                <a:ext cx="6129336" cy="668966"/>
              </a:xfrm>
              <a:prstGeom prst="rect">
                <a:avLst/>
              </a:prstGeom>
              <a:blipFill>
                <a:blip r:embed="rId4"/>
                <a:stretch>
                  <a:fillRect/>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0661499F-34C7-9DD9-299E-AEA3D6C20B96}"/>
              </a:ext>
            </a:extLst>
          </p:cNvPr>
          <p:cNvSpPr txBox="1"/>
          <p:nvPr/>
        </p:nvSpPr>
        <p:spPr>
          <a:xfrm>
            <a:off x="511889" y="1529473"/>
            <a:ext cx="3755311" cy="4401205"/>
          </a:xfrm>
          <a:prstGeom prst="rect">
            <a:avLst/>
          </a:prstGeom>
          <a:noFill/>
        </p:spPr>
        <p:txBody>
          <a:bodyPr wrap="square" rtlCol="0">
            <a:spAutoFit/>
          </a:bodyPr>
          <a:lstStyle/>
          <a:p>
            <a:r>
              <a:rPr lang="en-US" sz="2000" dirty="0"/>
              <a:t>The simulation confirms FSR = 15 nm. </a:t>
            </a:r>
          </a:p>
          <a:p>
            <a:r>
              <a:rPr lang="en-US" sz="2000" dirty="0"/>
              <a:t>With K = 0.5 and loss = 0.02 dB/µm the ring is over-coupled, the notch reaches about −20 dB but not infinity. To hit critical coupling you need K = 1 − a², where a² is the round-trip power transmission. With loss = 0.02 dB/µm and L = 80.08 µm the round-trip loss is 1.6 dB, giving a² = 0.69, so </a:t>
            </a:r>
            <a:r>
              <a:rPr lang="en-US" sz="2000" dirty="0" err="1"/>
              <a:t>K_crit</a:t>
            </a:r>
            <a:r>
              <a:rPr lang="en-US" sz="2000" dirty="0"/>
              <a:t> ≈ 0.31. Setting K to that value would make the notch go to −∞ theoretically.</a:t>
            </a:r>
          </a:p>
        </p:txBody>
      </p:sp>
      <p:pic>
        <p:nvPicPr>
          <p:cNvPr id="3" name="Immagine 2">
            <a:extLst>
              <a:ext uri="{FF2B5EF4-FFF2-40B4-BE49-F238E27FC236}">
                <a16:creationId xmlns:a16="http://schemas.microsoft.com/office/drawing/2014/main" id="{8549A0C2-263B-DF3A-A835-F3DC61A14F00}"/>
              </a:ext>
            </a:extLst>
          </p:cNvPr>
          <p:cNvPicPr>
            <a:picLocks noChangeAspect="1"/>
          </p:cNvPicPr>
          <p:nvPr/>
        </p:nvPicPr>
        <p:blipFill>
          <a:blip r:embed="rId5"/>
          <a:stretch>
            <a:fillRect/>
          </a:stretch>
        </p:blipFill>
        <p:spPr>
          <a:xfrm>
            <a:off x="5005890" y="1450536"/>
            <a:ext cx="6897144" cy="3956927"/>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a:extLst>
              <a:ext uri="{FF2B5EF4-FFF2-40B4-BE49-F238E27FC236}">
                <a16:creationId xmlns:a16="http://schemas.microsoft.com/office/drawing/2014/main" id="{8266F13B-05F1-81DE-B638-66D10EEB9FA2}"/>
              </a:ext>
            </a:extLst>
          </p:cNvPr>
          <p:cNvSpPr txBox="1">
            <a:spLocks/>
          </p:cNvSpPr>
          <p:nvPr/>
        </p:nvSpPr>
        <p:spPr>
          <a:xfrm>
            <a:off x="38100" y="-4763"/>
            <a:ext cx="10994410" cy="3975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r>
              <a:rPr lang="en-US" b="0" kern="0" spc="-5" dirty="0">
                <a:latin typeface="+mj-lt"/>
                <a:cs typeface="Lucida Sans"/>
              </a:rPr>
              <a:t>Change K value between 0.1 and 0.9 in steps of 0.1</a:t>
            </a:r>
          </a:p>
        </p:txBody>
      </p:sp>
      <p:sp>
        <p:nvSpPr>
          <p:cNvPr id="23" name="CasellaDiTesto 22">
            <a:extLst>
              <a:ext uri="{FF2B5EF4-FFF2-40B4-BE49-F238E27FC236}">
                <a16:creationId xmlns:a16="http://schemas.microsoft.com/office/drawing/2014/main" id="{B6F935A7-5B41-FD18-1B57-72059AAE5863}"/>
              </a:ext>
            </a:extLst>
          </p:cNvPr>
          <p:cNvSpPr txBox="1"/>
          <p:nvPr/>
        </p:nvSpPr>
        <p:spPr>
          <a:xfrm>
            <a:off x="6450892" y="1494020"/>
            <a:ext cx="5737360" cy="3785652"/>
          </a:xfrm>
          <a:prstGeom prst="rect">
            <a:avLst/>
          </a:prstGeom>
          <a:noFill/>
        </p:spPr>
        <p:txBody>
          <a:bodyPr wrap="square" rtlCol="0">
            <a:spAutoFit/>
          </a:bodyPr>
          <a:lstStyle/>
          <a:p>
            <a:r>
              <a:rPr lang="en-US" sz="2400" dirty="0"/>
              <a:t>As K goes from 0.1 to 0.9 the dips get wider and shallower. At K equal to 0.2 the dip reaches zero which means critical coupling, the point where the coupled power exactly matches the internal round trip loss. Below 0.2 the ring is under coupled and the dip does not reach zero. Above 0.2 it is over coupled and the dip rises back up. So K equal to 0.2 is the closest case to critical coupling in this sweep.</a:t>
            </a:r>
            <a:endParaRPr lang="it-IT" sz="2400" dirty="0"/>
          </a:p>
        </p:txBody>
      </p:sp>
      <p:pic>
        <p:nvPicPr>
          <p:cNvPr id="3" name="Immagine 2">
            <a:extLst>
              <a:ext uri="{FF2B5EF4-FFF2-40B4-BE49-F238E27FC236}">
                <a16:creationId xmlns:a16="http://schemas.microsoft.com/office/drawing/2014/main" id="{489AF722-E212-3F13-9824-AFC6F5DD7760}"/>
              </a:ext>
            </a:extLst>
          </p:cNvPr>
          <p:cNvPicPr>
            <a:picLocks noChangeAspect="1"/>
          </p:cNvPicPr>
          <p:nvPr/>
        </p:nvPicPr>
        <p:blipFill>
          <a:blip r:embed="rId2"/>
          <a:stretch>
            <a:fillRect/>
          </a:stretch>
        </p:blipFill>
        <p:spPr>
          <a:xfrm>
            <a:off x="102433" y="1524000"/>
            <a:ext cx="6032500" cy="3810000"/>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dirty="0"/>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228600" y="28575"/>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sz="1400" b="0" kern="0" spc="-5" dirty="0">
                <a:latin typeface="+mj-lt"/>
                <a:cs typeface="Lucida Sans"/>
              </a:rPr>
              <a:t>Change losses value between 0 and 8 </a:t>
            </a:r>
            <a:r>
              <a:rPr lang="en-US" sz="1400" b="0" kern="0" spc="-5" dirty="0">
                <a:solidFill>
                  <a:srgbClr val="FF0000"/>
                </a:solidFill>
                <a:latin typeface="+mj-lt"/>
                <a:cs typeface="Lucida Sans"/>
              </a:rPr>
              <a:t>dB/cm </a:t>
            </a:r>
            <a:r>
              <a:rPr lang="en-US" sz="1400" b="0" kern="0" spc="-5" dirty="0">
                <a:latin typeface="+mj-lt"/>
                <a:cs typeface="Lucida Sans"/>
              </a:rPr>
              <a:t>in steps of </a:t>
            </a:r>
            <a:r>
              <a:rPr lang="en-US" b="0" kern="0" spc="-5" dirty="0">
                <a:latin typeface="+mj-lt"/>
                <a:cs typeface="Lucida Sans"/>
              </a:rPr>
              <a:t>1</a:t>
            </a:r>
          </a:p>
        </p:txBody>
      </p:sp>
      <p:sp>
        <p:nvSpPr>
          <p:cNvPr id="2" name="CasellaDiTesto 1">
            <a:extLst>
              <a:ext uri="{FF2B5EF4-FFF2-40B4-BE49-F238E27FC236}">
                <a16:creationId xmlns:a16="http://schemas.microsoft.com/office/drawing/2014/main" id="{99E81F8C-070F-58B1-D462-83659682BFB0}"/>
              </a:ext>
            </a:extLst>
          </p:cNvPr>
          <p:cNvSpPr txBox="1"/>
          <p:nvPr/>
        </p:nvSpPr>
        <p:spPr>
          <a:xfrm>
            <a:off x="1546180" y="1841118"/>
            <a:ext cx="9099640" cy="1323439"/>
          </a:xfrm>
          <a:prstGeom prst="rect">
            <a:avLst/>
          </a:prstGeom>
          <a:noFill/>
        </p:spPr>
        <p:txBody>
          <a:bodyPr wrap="square" rtlCol="0">
            <a:spAutoFit/>
          </a:bodyPr>
          <a:lstStyle/>
          <a:p>
            <a:r>
              <a:rPr lang="en-US" sz="2000" u="sng" dirty="0"/>
              <a:t>With K fixed at 0.04 and increasing loss from 4 to 8 dB per cm the dips get progressively deeper. This happens because higher loss pushes the critical coupling condition closer to the K value we are using. All cases are still over coupled but 8 dB per cm is the closest to critical coupling since its dip goes the lowest.</a:t>
            </a:r>
          </a:p>
        </p:txBody>
      </p:sp>
      <p:pic>
        <p:nvPicPr>
          <p:cNvPr id="5" name="Immagine 4">
            <a:extLst>
              <a:ext uri="{FF2B5EF4-FFF2-40B4-BE49-F238E27FC236}">
                <a16:creationId xmlns:a16="http://schemas.microsoft.com/office/drawing/2014/main" id="{CE38B15C-6A32-859B-F80E-F215A125200B}"/>
              </a:ext>
            </a:extLst>
          </p:cNvPr>
          <p:cNvPicPr>
            <a:picLocks noChangeAspect="1"/>
          </p:cNvPicPr>
          <p:nvPr/>
        </p:nvPicPr>
        <p:blipFill>
          <a:blip r:embed="rId4"/>
          <a:stretch>
            <a:fillRect/>
          </a:stretch>
        </p:blipFill>
        <p:spPr>
          <a:xfrm>
            <a:off x="0" y="3693443"/>
            <a:ext cx="12115800" cy="2101700"/>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934</Words>
  <Application>Microsoft Office PowerPoint</Application>
  <PresentationFormat>Widescreen</PresentationFormat>
  <Paragraphs>81</Paragraphs>
  <Slides>11</Slides>
  <Notes>2</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11</vt:i4>
      </vt:variant>
    </vt:vector>
  </HeadingPairs>
  <TitlesOfParts>
    <vt:vector size="18" baseType="lpstr">
      <vt:lpstr>Aptos</vt:lpstr>
      <vt:lpstr>Arial</vt:lpstr>
      <vt:lpstr>Calibri</vt:lpstr>
      <vt:lpstr>Cambria Math</vt:lpstr>
      <vt:lpstr>Lucida Sans</vt:lpstr>
      <vt:lpstr>Wingdings</vt:lpstr>
      <vt:lpstr>Office Theme</vt:lpstr>
      <vt:lpstr>Presentazione standard di PowerPoint</vt:lpstr>
      <vt:lpstr>Instructions General</vt:lpstr>
      <vt:lpstr>Learning outcome #1a – Perfectly balanced MZI </vt:lpstr>
      <vt:lpstr>Learning outcome #1b – Unbalanced MZI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Giorgio Andreoli - giorgio.andreoli@studio.unibo.it</cp:lastModifiedBy>
  <cp:revision>19</cp:revision>
  <dcterms:created xsi:type="dcterms:W3CDTF">2025-01-27T02:46:57Z</dcterms:created>
  <dcterms:modified xsi:type="dcterms:W3CDTF">2026-05-26T16:07:40Z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